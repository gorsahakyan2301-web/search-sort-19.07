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F6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FUNDAMENTALS · DSA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Sorting Algorithms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Guide with Step-by-Step Examples &amp; Complexity Analysis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4315968"/>
            <a:ext cx="640080" cy="640080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4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41148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4315968"/>
            <a:ext cx="640080" cy="640080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240" dirty="0"/>
          </a:p>
        </p:txBody>
      </p:sp>
      <p:sp>
        <p:nvSpPr>
          <p:cNvPr id="14" name="Text 12"/>
          <p:cNvSpPr/>
          <p:nvPr/>
        </p:nvSpPr>
        <p:spPr>
          <a:xfrm>
            <a:off x="361188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Sorting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4315968"/>
            <a:ext cx="640080" cy="640080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40" dirty="0"/>
          </a:p>
        </p:txBody>
      </p:sp>
      <p:sp>
        <p:nvSpPr>
          <p:cNvPr id="18" name="Text 16"/>
          <p:cNvSpPr/>
          <p:nvPr/>
        </p:nvSpPr>
        <p:spPr>
          <a:xfrm>
            <a:off x="630936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400" y="41148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29800" y="4315968"/>
            <a:ext cx="640080" cy="640080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40" dirty="0"/>
          </a:p>
        </p:txBody>
      </p:sp>
      <p:sp>
        <p:nvSpPr>
          <p:cNvPr id="22" name="Text 20"/>
          <p:cNvSpPr/>
          <p:nvPr/>
        </p:nvSpPr>
        <p:spPr>
          <a:xfrm>
            <a:off x="90068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SEARCH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vs Unsorted: some algorithms (Binary, Ternary, Jump, Interpolation, Exponential, Fibonacci) require sorted data; Linear does not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how the number of comparisons grows as data size n increases (e.g. O(n), O(log n))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extra memory an algorithm needs beyond the input itself — most searches use O(1)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sorting data upfront (O(n log n)) pays off when you search it many times afterward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00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7 Algorithms Ahead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22219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121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— O(n)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26791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578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31363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035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Search — O(log₃ 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5935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493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Search — O(√n)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0507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9502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Search — O(log log 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407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Search — O(log 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496519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864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Search — O(log 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vs. Binary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0F6F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sequentially checks every element from the start until a match or the end of the list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O(1) best, O(n) average/worst — O(1) space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logic: compare target to A[0], then A[1], A[2]… stop at first match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 9 in [3, 7, 1, 9, 4, 2] → match at index 3 → 4 comparisons total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unsorted, or rarely-searched datasets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27632"/>
            <a:ext cx="502920" cy="502920"/>
          </a:xfrm>
          <a:prstGeom prst="ellipse">
            <a:avLst/>
          </a:prstGeom>
          <a:solidFill>
            <a:srgbClr val="168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717804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repeatedly compares the target to the middle element of a sorted range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O(1) best, O(log n) average/worst — O(1) iterative space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logic: if target &lt; mid, search the left half; if target &gt; mid, search the right half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 23 in [4, 8, 15, 16, 23, 42] → mid=16 (too low) → search right → mid=23 → found in 2 steps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large, sorted, randomly-accessible datasets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Search vs. Jump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0F6F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⚆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splits the sorted range into 3 parts using two midpoints, mid1 and mid2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O(log₃ n) — same order as binary, but roughly 2x the comparisons per step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logic: compare target to A[mid1] and A[mid2], then recurse into the matching third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used: locates the peak or valley of a unimodal function, not just a value in an array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unimodal optimization problems (e.g. finding a maximum point)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27632"/>
            <a:ext cx="502920" cy="502920"/>
          </a:xfrm>
          <a:prstGeom prst="ellipse">
            <a:avLst/>
          </a:prstGeom>
          <a:solidFill>
            <a:srgbClr val="168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↷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717804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Search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jumps ahead in fixed-size blocks of m = √n, then scans that block linearly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O(√n) time, O(1) space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logic: jump to index m, 2m, 3m… until a block may contain the target, then backtrack with a linear scan inside it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advantage: needs only forward steps, unlike binary search which needs random access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sorted linked lists or media where backward jumps are costly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Search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892040"/>
          </a:xfrm>
          <a:prstGeom prst="roundRect">
            <a:avLst>
              <a:gd name="adj" fmla="val 2308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9112" y="1627632"/>
            <a:ext cx="585216" cy="585216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16093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8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48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estimates the likely position using the value's distribution, not just the midpoint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pos = low + [(target − A[low]) × (high − low) / (A[high] − A[low])]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O(log log n) best case on uniform data; O(n) worst case on skewed data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large, uniformly-distributed numeric 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566160" cy="4892040"/>
          </a:xfrm>
          <a:prstGeom prst="roundRect">
            <a:avLst>
              <a:gd name="adj" fmla="val 2308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61304" y="1627632"/>
            <a:ext cx="585216" cy="585216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861304" y="16093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8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48" dirty="0"/>
          </a:p>
        </p:txBody>
      </p:sp>
      <p:sp>
        <p:nvSpPr>
          <p:cNvPr id="12" name="Text 10"/>
          <p:cNvSpPr/>
          <p:nvPr/>
        </p:nvSpPr>
        <p:spPr>
          <a:xfrm>
            <a:off x="4553712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880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doubles a bound (1, 2, 4, 8…) until it exceeds or brackets the target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binary search is applied within the last bracketed range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O(log n) time, O(1) space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unbounded/infinite sorted arrays, or targets near the start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371600"/>
            <a:ext cx="3566160" cy="4892040"/>
          </a:xfrm>
          <a:prstGeom prst="roundRect">
            <a:avLst>
              <a:gd name="adj" fmla="val 2308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83496" y="1627632"/>
            <a:ext cx="585216" cy="585216"/>
          </a:xfrm>
          <a:prstGeom prst="ellipse">
            <a:avLst/>
          </a:prstGeom>
          <a:solidFill>
            <a:srgbClr val="0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9683496" y="16093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8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2048" dirty="0"/>
          </a:p>
        </p:txBody>
      </p:sp>
      <p:sp>
        <p:nvSpPr>
          <p:cNvPr id="17" name="Text 15"/>
          <p:cNvSpPr/>
          <p:nvPr/>
        </p:nvSpPr>
        <p:spPr>
          <a:xfrm>
            <a:off x="8375904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2880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divides the array using Fibonacci numbers instead of a calculated midpoint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uses only addition/subtraction — no division operator required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O(log n) time, O(1) space</a:t>
            </a:r>
            <a:endParaRPr lang="en-US" sz="11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CPUs/embedded systems where division is costly; block-based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 — Summary Table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89204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417320"/>
                <a:gridCol w="1371600"/>
                <a:gridCol w="5330952"/>
              </a:tblGrid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Req.?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or unsorted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sorted arrays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O(log₃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O(log₃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Unimodal function optimization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linked lists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(uniform)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Uniformly distributed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/ infinite sorted lists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Division-free 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SORTING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389120"/>
          </a:xfrm>
          <a:prstGeom prst="roundRect">
            <a:avLst>
              <a:gd name="adj" fmla="val 2308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73152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vs. Extra Space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sorts (Bubble, Selection, Insertion, Quick) rearrange elements within the original array using O(1) or O(log n) extra memory. Merge Sort needs O(n) extra space to hold data during merging.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66160" cy="4389120"/>
          </a:xfrm>
          <a:prstGeom prst="roundRect">
            <a:avLst>
              <a:gd name="adj" fmla="val 2308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47672"/>
            <a:ext cx="73152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sort preserves the relative order of equal-valued elements — essential when sorting records by a secondary key. Insertion Sort and Merge Sort are stable; Selection Sort and Quick Sort are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566160" cy="4389120"/>
          </a:xfrm>
          <a:prstGeom prst="roundRect">
            <a:avLst>
              <a:gd name="adj" fmla="val 2308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49056" y="1947672"/>
            <a:ext cx="73152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50224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vs. O(n log 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67344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sorts (Bubble, Selection, Insertion) compare nearly every pair of elements, giving quadratic time. Divide-and-conquer sorts (Quick, Merge) cut the problem in half at each step, giving n log n 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&amp; Selection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0F6F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repeatedly swaps adjacent out-of-order elements; the largest value “bubbles” to the end each pass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O(n²) average/worst, O(n) best case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Early-exit optimization: stop early if a full pass makes zero swaps — the list is already sorted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 — Stable: Yes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teaching, or quickly verifying near-sorted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27632"/>
            <a:ext cx="502920" cy="502920"/>
          </a:xfrm>
          <a:prstGeom prst="ellipse">
            <a:avLst/>
          </a:prstGeom>
          <a:solidFill>
            <a:srgbClr val="168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7178040" y="1645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scans the unsorted portion for the minimum element, then swaps it to the front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O(n²) in all cases — always scans the full remaining list, even if sorted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Minimum-swaps advantage: performs at most n−1 swaps total, far fewer than Bubble Sort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 — Stable: No (standard implementation)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environments where memory writes are expensive (e.g. flash storage)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00600"/>
          </a:xfrm>
          <a:prstGeom prst="roundRect">
            <a:avLst>
              <a:gd name="adj" fmla="val 171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F6F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like sorting a hand of playing cards — take the next card and shift it left into its correct position among the cards already sorted</a:t>
            </a:r>
            <a:endParaRPr lang="en-US" sz="1300" dirty="0"/>
          </a:p>
          <a:p>
            <a:pPr marL="165100" indent="-1651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logic: for each new element, shift larger elements one position to the right, then insert the element into the gap</a:t>
            </a:r>
            <a:endParaRPr lang="en-US" sz="1300" dirty="0"/>
          </a:p>
          <a:p>
            <a:pPr marL="165100" indent="-1651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[5, 2, 4] → insert 2 → [2, 5, 4] → insert 4 → [2, 4, 5]</a:t>
            </a:r>
            <a:endParaRPr lang="en-US" sz="1300" dirty="0"/>
          </a:p>
          <a:p>
            <a:pPr marL="165100" indent="-1651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O(n) best case (nearly sorted input), O(n²) average/worst case</a:t>
            </a:r>
            <a:endParaRPr lang="en-US" sz="1300" dirty="0"/>
          </a:p>
          <a:p>
            <a:pPr marL="165100" indent="-1651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 — Stable: Yes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Snapshot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81160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/ Worst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81160" y="2441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2825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81160" y="28254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209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320954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Shines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5193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on small datasets — roughly n &lt; 50 elements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on nearly-sorted or streaming data, where each insertion is nearly O(1)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 overhead, no recursion — often the base case inside Quick Sort / Merge Sort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(Divide &amp; Conquer)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00600"/>
          </a:xfrm>
          <a:prstGeom prst="roundRect">
            <a:avLst>
              <a:gd name="adj" fmla="val 171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682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Mechanism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pivot element from the array</a:t>
            </a:r>
            <a:endParaRPr lang="en-US" sz="123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so smaller elements move left of the pivot, larger move right</a:t>
            </a:r>
            <a:endParaRPr lang="en-US" sz="123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repeat on each side until sorted</a:t>
            </a:r>
            <a:endParaRPr lang="en-US" sz="1230" dirty="0"/>
          </a:p>
          <a:p>
            <a:pPr marL="165100" indent="-165100"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in place — no auxiliary array required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68680" y="3913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Selection Strategies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279392"/>
            <a:ext cx="2313432" cy="841248"/>
          </a:xfrm>
          <a:prstGeom prst="roundRect">
            <a:avLst>
              <a:gd name="adj" fmla="val 7609"/>
            </a:avLst>
          </a:prstGeom>
          <a:solidFill>
            <a:srgbClr val="1E2C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525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worst-case on sorted input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346704" y="4279392"/>
            <a:ext cx="2313432" cy="841248"/>
          </a:xfrm>
          <a:prstGeom prst="roundRect">
            <a:avLst>
              <a:gd name="adj" fmla="val 7609"/>
            </a:avLst>
          </a:prstGeom>
          <a:solidFill>
            <a:srgbClr val="1E2C4A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43525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Element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83864" y="466344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risk (classic Lomuto scheme)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68680" y="5285232"/>
            <a:ext cx="2313432" cy="841248"/>
          </a:xfrm>
          <a:prstGeom prst="roundRect">
            <a:avLst>
              <a:gd name="adj" fmla="val 7609"/>
            </a:avLst>
          </a:prstGeom>
          <a:solidFill>
            <a:srgbClr val="1E2C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35838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Element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669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worst-case on any pattern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346704" y="5285232"/>
            <a:ext cx="2313432" cy="841248"/>
          </a:xfrm>
          <a:prstGeom prst="roundRect">
            <a:avLst>
              <a:gd name="adj" fmla="val 7609"/>
            </a:avLst>
          </a:prstGeom>
          <a:solidFill>
            <a:srgbClr val="1E2C4A"/>
          </a:solidFill>
          <a:ln/>
        </p:spPr>
      </p:sp>
      <p:sp>
        <p:nvSpPr>
          <p:cNvPr id="20" name="Text 18"/>
          <p:cNvSpPr/>
          <p:nvPr/>
        </p:nvSpPr>
        <p:spPr>
          <a:xfrm>
            <a:off x="3483864" y="535838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Median-of-Three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83864" y="5669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robust choice in practice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72200" y="146304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Snapshot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465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81160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(bad pivot)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81160" y="2441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2825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81160" y="28254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209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81160" y="320954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393192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Default Choice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446520" y="4526280"/>
            <a:ext cx="5193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 practice for large, general in-memory datasets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cache locality from in-place partitioning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/ median-of-three pivots avoid worst-case behavior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(Divide &amp; Conquer)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00600"/>
          </a:xfrm>
          <a:prstGeom prst="roundRect">
            <a:avLst>
              <a:gd name="adj" fmla="val 1714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F6F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Divide, Conquer, Merge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200"/>
              </a:spcAft>
              <a:buSzPct val="100000"/>
              <a:buChar char="▪"/>
            </a:pPr>
            <a:r>
              <a:rPr lang="en-US" sz="12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Divide: split the array in half recursively until each piece holds a single element</a:t>
            </a:r>
            <a:endParaRPr lang="en-US" sz="1280" dirty="0"/>
          </a:p>
          <a:p>
            <a:pPr marL="165100" indent="-165100">
              <a:spcAft>
                <a:spcPts val="1200"/>
              </a:spcAft>
              <a:buSzPct val="100000"/>
              <a:buChar char="▪"/>
            </a:pPr>
            <a:r>
              <a:rPr lang="en-US" sz="12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Conquer: a single-element list is trivially already “sorted”</a:t>
            </a:r>
            <a:endParaRPr lang="en-US" sz="1280" dirty="0"/>
          </a:p>
          <a:p>
            <a:pPr marL="165100" indent="-165100">
              <a:spcAft>
                <a:spcPts val="1200"/>
              </a:spcAft>
              <a:buSzPct val="100000"/>
              <a:buChar char="▪"/>
            </a:pPr>
            <a:r>
              <a:rPr lang="en-US" sz="12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repeatedly compare the front elements of two sorted halves, appending the smaller one to a new output array</a:t>
            </a:r>
            <a:endParaRPr lang="en-US" sz="1280" dirty="0"/>
          </a:p>
          <a:p>
            <a:pPr marL="165100" indent="-165100">
              <a:spcAft>
                <a:spcPts val="1200"/>
              </a:spcAft>
              <a:buSzPct val="100000"/>
              <a:buChar char="▪"/>
            </a:pPr>
            <a:r>
              <a:rPr lang="en-US" sz="12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merging up the recursion tree until one fully sorted array remains</a:t>
            </a:r>
            <a:endParaRPr lang="en-US" sz="1280" dirty="0"/>
          </a:p>
          <a:p>
            <a:pPr marL="165100" indent="-165100">
              <a:spcAft>
                <a:spcPts val="1200"/>
              </a:spcAft>
              <a:buSzPct val="100000"/>
              <a:buChar char="▪"/>
            </a:pPr>
            <a:r>
              <a:rPr lang="en-US" sz="12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auxiliary array to merge into — not in-place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1E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Snapshot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Average / Worst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81160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81160" y="2441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2825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81160" y="28254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209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320954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1824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Wins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5193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— no quadratic worst case, ever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preserves order of equal-keyed records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to linked lists and external (disk-based) sorting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 — Summary Table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914400"/>
                <a:gridCol w="914400"/>
                <a:gridCol w="5239512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Teaching, near-sorted tiny lists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Minimizing swaps / memory writes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(n&lt;50) or nearly-sorted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General-purpose, large in-memory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lists, external / stable sorting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2026-07-21T20:37:14Z</dcterms:created>
  <dcterms:modified xsi:type="dcterms:W3CDTF">2026-07-21T20:37:14Z</dcterms:modified>
</cp:coreProperties>
</file>